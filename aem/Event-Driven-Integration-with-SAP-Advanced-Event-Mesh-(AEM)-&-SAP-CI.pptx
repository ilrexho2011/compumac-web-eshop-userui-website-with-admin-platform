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 showGuides="1">
      <p:cViewPr varScale="1">
        <p:scale>
          <a:sx n="105" d="100"/>
          <a:sy n="105" d="100"/>
        </p:scale>
        <p:origin x="1470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72F16-E28F-4D2F-FCED-C58494D074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DE873F-8ADF-8F01-E0F7-FD43CFD3A3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B58B12-DACC-DB71-067A-B2DFDD267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17F7A-FDF9-47B1-B3E6-8096D763E9D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70358-4F60-E68C-3D86-961FCE25C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100EB-C74F-EA14-0CD6-C83828178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D97F2-EF1A-4DD0-BEBA-04EF9AAE91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563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09C8B5-8EDA-355B-1ABB-D8D562788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9496ED-2BBD-C73E-A3F3-40090C712D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F3F538-709C-A823-D964-8D932F0312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917F7A-FDF9-47B1-B3E6-8096D763E9D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D7EEC9-E3D3-F8AD-FF2C-63BA6362FA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3F1D61-A2E2-F328-2DCA-79ACB81A55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8D97F2-EF1A-4DD0-BEBA-04EF9AAE91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031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2559D-3ED4-C752-2E2C-E07855AD1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3B932D9-B002-ABFA-6138-73562BB13BDC}"/>
              </a:ext>
            </a:extLst>
          </p:cNvPr>
          <p:cNvSpPr/>
          <p:nvPr/>
        </p:nvSpPr>
        <p:spPr>
          <a:xfrm>
            <a:off x="500743" y="1021278"/>
            <a:ext cx="11190514" cy="1555668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EB42A82-B918-0267-370A-04EA21E0E5AE}"/>
              </a:ext>
            </a:extLst>
          </p:cNvPr>
          <p:cNvSpPr/>
          <p:nvPr/>
        </p:nvSpPr>
        <p:spPr>
          <a:xfrm>
            <a:off x="500743" y="2793670"/>
            <a:ext cx="11190514" cy="1555668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49BA16-55EB-1A73-4459-A686EE38FAD0}"/>
              </a:ext>
            </a:extLst>
          </p:cNvPr>
          <p:cNvSpPr/>
          <p:nvPr/>
        </p:nvSpPr>
        <p:spPr>
          <a:xfrm>
            <a:off x="500743" y="4566062"/>
            <a:ext cx="11190514" cy="1555668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1A37C70-1768-87C1-9888-5D4E68983D34}"/>
              </a:ext>
            </a:extLst>
          </p:cNvPr>
          <p:cNvSpPr/>
          <p:nvPr/>
        </p:nvSpPr>
        <p:spPr>
          <a:xfrm>
            <a:off x="4486893" y="3001488"/>
            <a:ext cx="3218213" cy="1140032"/>
          </a:xfrm>
          <a:custGeom>
            <a:avLst/>
            <a:gdLst>
              <a:gd name="connsiteX0" fmla="*/ 195947 w 3218213"/>
              <a:gd name="connsiteY0" fmla="*/ 0 h 890650"/>
              <a:gd name="connsiteX1" fmla="*/ 3022266 w 3218213"/>
              <a:gd name="connsiteY1" fmla="*/ 0 h 890650"/>
              <a:gd name="connsiteX2" fmla="*/ 3218213 w 3218213"/>
              <a:gd name="connsiteY2" fmla="*/ 195947 h 890650"/>
              <a:gd name="connsiteX3" fmla="*/ 3218213 w 3218213"/>
              <a:gd name="connsiteY3" fmla="*/ 890650 h 890650"/>
              <a:gd name="connsiteX4" fmla="*/ 0 w 3218213"/>
              <a:gd name="connsiteY4" fmla="*/ 890650 h 890650"/>
              <a:gd name="connsiteX5" fmla="*/ 0 w 3218213"/>
              <a:gd name="connsiteY5" fmla="*/ 195947 h 890650"/>
              <a:gd name="connsiteX6" fmla="*/ 195947 w 3218213"/>
              <a:gd name="connsiteY6" fmla="*/ 0 h 890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18213" h="890650">
                <a:moveTo>
                  <a:pt x="195947" y="0"/>
                </a:moveTo>
                <a:lnTo>
                  <a:pt x="3022266" y="0"/>
                </a:lnTo>
                <a:cubicBezTo>
                  <a:pt x="3130485" y="0"/>
                  <a:pt x="3218213" y="87728"/>
                  <a:pt x="3218213" y="195947"/>
                </a:cubicBezTo>
                <a:lnTo>
                  <a:pt x="3218213" y="890650"/>
                </a:lnTo>
                <a:lnTo>
                  <a:pt x="0" y="890650"/>
                </a:lnTo>
                <a:lnTo>
                  <a:pt x="0" y="195947"/>
                </a:lnTo>
                <a:cubicBezTo>
                  <a:pt x="0" y="87728"/>
                  <a:pt x="87728" y="0"/>
                  <a:pt x="195947" y="0"/>
                </a:cubicBezTo>
                <a:close/>
              </a:path>
            </a:pathLst>
          </a:custGeom>
          <a:solidFill>
            <a:srgbClr val="E97132">
              <a:alpha val="4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AEM Broker (Topic Exchange)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2AD1E7-0471-3425-F0B8-AE2F63030E47}"/>
              </a:ext>
            </a:extLst>
          </p:cNvPr>
          <p:cNvSpPr txBox="1"/>
          <p:nvPr/>
        </p:nvSpPr>
        <p:spPr>
          <a:xfrm>
            <a:off x="500743" y="463138"/>
            <a:ext cx="82544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Event-Driven Integration </a:t>
            </a:r>
            <a:r>
              <a:rPr lang="en-US" sz="2000" dirty="0"/>
              <a:t>with SAP Advanced Event Mesh (</a:t>
            </a:r>
            <a:r>
              <a:rPr lang="en-US" sz="2000" b="1" dirty="0"/>
              <a:t>AEM</a:t>
            </a:r>
            <a:r>
              <a:rPr lang="en-US" sz="2000" dirty="0"/>
              <a:t>) &amp; </a:t>
            </a:r>
            <a:r>
              <a:rPr lang="en-US" sz="2000" b="1" dirty="0"/>
              <a:t>SAP CI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98D7E9F-6B46-E914-75A5-0F62BE904FBF}"/>
              </a:ext>
            </a:extLst>
          </p:cNvPr>
          <p:cNvSpPr/>
          <p:nvPr/>
        </p:nvSpPr>
        <p:spPr>
          <a:xfrm>
            <a:off x="8191994" y="3001488"/>
            <a:ext cx="3218213" cy="1140032"/>
          </a:xfrm>
          <a:custGeom>
            <a:avLst/>
            <a:gdLst>
              <a:gd name="connsiteX0" fmla="*/ 195947 w 3218213"/>
              <a:gd name="connsiteY0" fmla="*/ 0 h 890650"/>
              <a:gd name="connsiteX1" fmla="*/ 3022266 w 3218213"/>
              <a:gd name="connsiteY1" fmla="*/ 0 h 890650"/>
              <a:gd name="connsiteX2" fmla="*/ 3218213 w 3218213"/>
              <a:gd name="connsiteY2" fmla="*/ 195947 h 890650"/>
              <a:gd name="connsiteX3" fmla="*/ 3218213 w 3218213"/>
              <a:gd name="connsiteY3" fmla="*/ 890650 h 890650"/>
              <a:gd name="connsiteX4" fmla="*/ 0 w 3218213"/>
              <a:gd name="connsiteY4" fmla="*/ 890650 h 890650"/>
              <a:gd name="connsiteX5" fmla="*/ 0 w 3218213"/>
              <a:gd name="connsiteY5" fmla="*/ 195947 h 890650"/>
              <a:gd name="connsiteX6" fmla="*/ 195947 w 3218213"/>
              <a:gd name="connsiteY6" fmla="*/ 0 h 890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18213" h="890650">
                <a:moveTo>
                  <a:pt x="195947" y="0"/>
                </a:moveTo>
                <a:lnTo>
                  <a:pt x="3022266" y="0"/>
                </a:lnTo>
                <a:cubicBezTo>
                  <a:pt x="3130485" y="0"/>
                  <a:pt x="3218213" y="87728"/>
                  <a:pt x="3218213" y="195947"/>
                </a:cubicBezTo>
                <a:lnTo>
                  <a:pt x="3218213" y="890650"/>
                </a:lnTo>
                <a:lnTo>
                  <a:pt x="0" y="890650"/>
                </a:lnTo>
                <a:lnTo>
                  <a:pt x="0" y="195947"/>
                </a:lnTo>
                <a:cubicBezTo>
                  <a:pt x="0" y="87728"/>
                  <a:pt x="87728" y="0"/>
                  <a:pt x="195947" y="0"/>
                </a:cubicBezTo>
                <a:close/>
              </a:path>
            </a:pathLst>
          </a:custGeom>
          <a:solidFill>
            <a:srgbClr val="5DBBE5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SAP</a:t>
            </a:r>
            <a:r>
              <a:rPr lang="en-US" dirty="0">
                <a:solidFill>
                  <a:srgbClr val="002060"/>
                </a:solidFill>
              </a:rPr>
              <a:t> Cloud Integration (</a:t>
            </a:r>
            <a:r>
              <a:rPr lang="en-US" b="1" dirty="0">
                <a:solidFill>
                  <a:srgbClr val="002060"/>
                </a:solidFill>
              </a:rPr>
              <a:t>CPI</a:t>
            </a:r>
            <a:r>
              <a:rPr lang="en-US" dirty="0">
                <a:solidFill>
                  <a:srgbClr val="002060"/>
                </a:solidFill>
              </a:rPr>
              <a:t>)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3464E33-0711-BD43-8618-81B3E258C31E}"/>
              </a:ext>
            </a:extLst>
          </p:cNvPr>
          <p:cNvSpPr/>
          <p:nvPr/>
        </p:nvSpPr>
        <p:spPr>
          <a:xfrm>
            <a:off x="8191994" y="4773880"/>
            <a:ext cx="3218213" cy="1140032"/>
          </a:xfrm>
          <a:custGeom>
            <a:avLst/>
            <a:gdLst>
              <a:gd name="connsiteX0" fmla="*/ 195947 w 3218213"/>
              <a:gd name="connsiteY0" fmla="*/ 0 h 890650"/>
              <a:gd name="connsiteX1" fmla="*/ 3022266 w 3218213"/>
              <a:gd name="connsiteY1" fmla="*/ 0 h 890650"/>
              <a:gd name="connsiteX2" fmla="*/ 3218213 w 3218213"/>
              <a:gd name="connsiteY2" fmla="*/ 195947 h 890650"/>
              <a:gd name="connsiteX3" fmla="*/ 3218213 w 3218213"/>
              <a:gd name="connsiteY3" fmla="*/ 890650 h 890650"/>
              <a:gd name="connsiteX4" fmla="*/ 0 w 3218213"/>
              <a:gd name="connsiteY4" fmla="*/ 890650 h 890650"/>
              <a:gd name="connsiteX5" fmla="*/ 0 w 3218213"/>
              <a:gd name="connsiteY5" fmla="*/ 195947 h 890650"/>
              <a:gd name="connsiteX6" fmla="*/ 195947 w 3218213"/>
              <a:gd name="connsiteY6" fmla="*/ 0 h 890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18213" h="890650">
                <a:moveTo>
                  <a:pt x="195947" y="0"/>
                </a:moveTo>
                <a:lnTo>
                  <a:pt x="3022266" y="0"/>
                </a:lnTo>
                <a:cubicBezTo>
                  <a:pt x="3130485" y="0"/>
                  <a:pt x="3218213" y="87728"/>
                  <a:pt x="3218213" y="195947"/>
                </a:cubicBezTo>
                <a:lnTo>
                  <a:pt x="3218213" y="890650"/>
                </a:lnTo>
                <a:lnTo>
                  <a:pt x="0" y="890650"/>
                </a:lnTo>
                <a:lnTo>
                  <a:pt x="0" y="195947"/>
                </a:lnTo>
                <a:cubicBezTo>
                  <a:pt x="0" y="87728"/>
                  <a:pt x="87728" y="0"/>
                  <a:pt x="195947" y="0"/>
                </a:cubicBezTo>
                <a:close/>
              </a:path>
            </a:pathLst>
          </a:custGeom>
          <a:solidFill>
            <a:srgbClr val="5DBBE5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SAP S/4HANA </a:t>
            </a:r>
            <a:r>
              <a:rPr lang="en-US" dirty="0">
                <a:solidFill>
                  <a:srgbClr val="002060"/>
                </a:solidFill>
              </a:rPr>
              <a:t>(IDoc / OData)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C1B82ED-1FF3-06C5-9FBF-1504F6EF003C}"/>
              </a:ext>
            </a:extLst>
          </p:cNvPr>
          <p:cNvSpPr/>
          <p:nvPr/>
        </p:nvSpPr>
        <p:spPr>
          <a:xfrm>
            <a:off x="4486893" y="4773880"/>
            <a:ext cx="3218213" cy="1140032"/>
          </a:xfrm>
          <a:custGeom>
            <a:avLst/>
            <a:gdLst>
              <a:gd name="connsiteX0" fmla="*/ 195947 w 3218213"/>
              <a:gd name="connsiteY0" fmla="*/ 0 h 890650"/>
              <a:gd name="connsiteX1" fmla="*/ 3022266 w 3218213"/>
              <a:gd name="connsiteY1" fmla="*/ 0 h 890650"/>
              <a:gd name="connsiteX2" fmla="*/ 3218213 w 3218213"/>
              <a:gd name="connsiteY2" fmla="*/ 195947 h 890650"/>
              <a:gd name="connsiteX3" fmla="*/ 3218213 w 3218213"/>
              <a:gd name="connsiteY3" fmla="*/ 890650 h 890650"/>
              <a:gd name="connsiteX4" fmla="*/ 0 w 3218213"/>
              <a:gd name="connsiteY4" fmla="*/ 890650 h 890650"/>
              <a:gd name="connsiteX5" fmla="*/ 0 w 3218213"/>
              <a:gd name="connsiteY5" fmla="*/ 195947 h 890650"/>
              <a:gd name="connsiteX6" fmla="*/ 195947 w 3218213"/>
              <a:gd name="connsiteY6" fmla="*/ 0 h 890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18213" h="890650">
                <a:moveTo>
                  <a:pt x="195947" y="0"/>
                </a:moveTo>
                <a:lnTo>
                  <a:pt x="3022266" y="0"/>
                </a:lnTo>
                <a:cubicBezTo>
                  <a:pt x="3130485" y="0"/>
                  <a:pt x="3218213" y="87728"/>
                  <a:pt x="3218213" y="195947"/>
                </a:cubicBezTo>
                <a:lnTo>
                  <a:pt x="3218213" y="890650"/>
                </a:lnTo>
                <a:lnTo>
                  <a:pt x="0" y="890650"/>
                </a:lnTo>
                <a:lnTo>
                  <a:pt x="0" y="195947"/>
                </a:lnTo>
                <a:cubicBezTo>
                  <a:pt x="0" y="87728"/>
                  <a:pt x="87728" y="0"/>
                  <a:pt x="195947" y="0"/>
                </a:cubicBezTo>
                <a:close/>
              </a:path>
            </a:pathLst>
          </a:custGeom>
          <a:solidFill>
            <a:srgbClr val="D668C9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E‑commerce / POS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425A2AD-6E5C-3C6B-8370-07FDA2CD0544}"/>
              </a:ext>
            </a:extLst>
          </p:cNvPr>
          <p:cNvSpPr/>
          <p:nvPr/>
        </p:nvSpPr>
        <p:spPr>
          <a:xfrm>
            <a:off x="781793" y="4773880"/>
            <a:ext cx="3218213" cy="1140032"/>
          </a:xfrm>
          <a:custGeom>
            <a:avLst/>
            <a:gdLst>
              <a:gd name="connsiteX0" fmla="*/ 195947 w 3218213"/>
              <a:gd name="connsiteY0" fmla="*/ 0 h 890650"/>
              <a:gd name="connsiteX1" fmla="*/ 3022266 w 3218213"/>
              <a:gd name="connsiteY1" fmla="*/ 0 h 890650"/>
              <a:gd name="connsiteX2" fmla="*/ 3218213 w 3218213"/>
              <a:gd name="connsiteY2" fmla="*/ 195947 h 890650"/>
              <a:gd name="connsiteX3" fmla="*/ 3218213 w 3218213"/>
              <a:gd name="connsiteY3" fmla="*/ 890650 h 890650"/>
              <a:gd name="connsiteX4" fmla="*/ 0 w 3218213"/>
              <a:gd name="connsiteY4" fmla="*/ 890650 h 890650"/>
              <a:gd name="connsiteX5" fmla="*/ 0 w 3218213"/>
              <a:gd name="connsiteY5" fmla="*/ 195947 h 890650"/>
              <a:gd name="connsiteX6" fmla="*/ 195947 w 3218213"/>
              <a:gd name="connsiteY6" fmla="*/ 0 h 890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18213" h="890650">
                <a:moveTo>
                  <a:pt x="195947" y="0"/>
                </a:moveTo>
                <a:lnTo>
                  <a:pt x="3022266" y="0"/>
                </a:lnTo>
                <a:cubicBezTo>
                  <a:pt x="3130485" y="0"/>
                  <a:pt x="3218213" y="87728"/>
                  <a:pt x="3218213" y="195947"/>
                </a:cubicBezTo>
                <a:lnTo>
                  <a:pt x="3218213" y="890650"/>
                </a:lnTo>
                <a:lnTo>
                  <a:pt x="0" y="890650"/>
                </a:lnTo>
                <a:lnTo>
                  <a:pt x="0" y="195947"/>
                </a:lnTo>
                <a:cubicBezTo>
                  <a:pt x="0" y="87728"/>
                  <a:pt x="87728" y="0"/>
                  <a:pt x="195947" y="0"/>
                </a:cubicBezTo>
                <a:close/>
              </a:path>
            </a:pathLst>
          </a:custGeom>
          <a:solidFill>
            <a:srgbClr val="D668C9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Analytics / Data Lake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70F9FFD-26B6-2EC9-E9FD-42478A818E89}"/>
              </a:ext>
            </a:extLst>
          </p:cNvPr>
          <p:cNvSpPr/>
          <p:nvPr/>
        </p:nvSpPr>
        <p:spPr>
          <a:xfrm>
            <a:off x="807915" y="1234809"/>
            <a:ext cx="3218213" cy="1140032"/>
          </a:xfrm>
          <a:custGeom>
            <a:avLst/>
            <a:gdLst>
              <a:gd name="connsiteX0" fmla="*/ 195947 w 3218213"/>
              <a:gd name="connsiteY0" fmla="*/ 0 h 890650"/>
              <a:gd name="connsiteX1" fmla="*/ 3022266 w 3218213"/>
              <a:gd name="connsiteY1" fmla="*/ 0 h 890650"/>
              <a:gd name="connsiteX2" fmla="*/ 3218213 w 3218213"/>
              <a:gd name="connsiteY2" fmla="*/ 195947 h 890650"/>
              <a:gd name="connsiteX3" fmla="*/ 3218213 w 3218213"/>
              <a:gd name="connsiteY3" fmla="*/ 890650 h 890650"/>
              <a:gd name="connsiteX4" fmla="*/ 0 w 3218213"/>
              <a:gd name="connsiteY4" fmla="*/ 890650 h 890650"/>
              <a:gd name="connsiteX5" fmla="*/ 0 w 3218213"/>
              <a:gd name="connsiteY5" fmla="*/ 195947 h 890650"/>
              <a:gd name="connsiteX6" fmla="*/ 195947 w 3218213"/>
              <a:gd name="connsiteY6" fmla="*/ 0 h 890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18213" h="890650">
                <a:moveTo>
                  <a:pt x="195947" y="0"/>
                </a:moveTo>
                <a:lnTo>
                  <a:pt x="3022266" y="0"/>
                </a:lnTo>
                <a:cubicBezTo>
                  <a:pt x="3130485" y="0"/>
                  <a:pt x="3218213" y="87728"/>
                  <a:pt x="3218213" y="195947"/>
                </a:cubicBezTo>
                <a:lnTo>
                  <a:pt x="3218213" y="890650"/>
                </a:lnTo>
                <a:lnTo>
                  <a:pt x="0" y="890650"/>
                </a:lnTo>
                <a:lnTo>
                  <a:pt x="0" y="195947"/>
                </a:lnTo>
                <a:cubicBezTo>
                  <a:pt x="0" y="87728"/>
                  <a:pt x="87728" y="0"/>
                  <a:pt x="195947" y="0"/>
                </a:cubicBezTo>
                <a:close/>
              </a:path>
            </a:pathLst>
          </a:custGeom>
          <a:solidFill>
            <a:srgbClr val="92D050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Publisher (ERP / CRM)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1F97402-363E-92A7-AE31-C1A7C4D4344F}"/>
              </a:ext>
            </a:extLst>
          </p:cNvPr>
          <p:cNvSpPr/>
          <p:nvPr/>
        </p:nvSpPr>
        <p:spPr>
          <a:xfrm>
            <a:off x="807915" y="2113808"/>
            <a:ext cx="3192091" cy="2553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Event</a:t>
            </a:r>
            <a:r>
              <a:rPr lang="en-US" sz="1600" dirty="0"/>
              <a:t>: OrderCreated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6CF5DB6D-CCA7-7199-A705-2746CE059198}"/>
              </a:ext>
            </a:extLst>
          </p:cNvPr>
          <p:cNvSpPr/>
          <p:nvPr/>
        </p:nvSpPr>
        <p:spPr>
          <a:xfrm>
            <a:off x="3405116" y="1144019"/>
            <a:ext cx="663129" cy="1310185"/>
          </a:xfrm>
          <a:custGeom>
            <a:avLst/>
            <a:gdLst>
              <a:gd name="connsiteX0" fmla="*/ 0 w 663129"/>
              <a:gd name="connsiteY0" fmla="*/ 0 h 1310185"/>
              <a:gd name="connsiteX1" fmla="*/ 442178 w 663129"/>
              <a:gd name="connsiteY1" fmla="*/ 0 h 1310185"/>
              <a:gd name="connsiteX2" fmla="*/ 663129 w 663129"/>
              <a:gd name="connsiteY2" fmla="*/ 288247 h 1310185"/>
              <a:gd name="connsiteX3" fmla="*/ 663129 w 663129"/>
              <a:gd name="connsiteY3" fmla="*/ 1310185 h 1310185"/>
              <a:gd name="connsiteX4" fmla="*/ 0 w 663129"/>
              <a:gd name="connsiteY4" fmla="*/ 1310185 h 1310185"/>
              <a:gd name="connsiteX5" fmla="*/ 0 w 663129"/>
              <a:gd name="connsiteY5" fmla="*/ 1225109 h 1310185"/>
              <a:gd name="connsiteX6" fmla="*/ 594890 w 663129"/>
              <a:gd name="connsiteY6" fmla="*/ 1225109 h 1310185"/>
              <a:gd name="connsiteX7" fmla="*/ 594890 w 663129"/>
              <a:gd name="connsiteY7" fmla="*/ 335889 h 1310185"/>
              <a:gd name="connsiteX8" fmla="*/ 398943 w 663129"/>
              <a:gd name="connsiteY8" fmla="*/ 85077 h 1310185"/>
              <a:gd name="connsiteX9" fmla="*/ 0 w 663129"/>
              <a:gd name="connsiteY9" fmla="*/ 85077 h 13101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3129" h="1310185">
                <a:moveTo>
                  <a:pt x="0" y="0"/>
                </a:moveTo>
                <a:lnTo>
                  <a:pt x="442178" y="0"/>
                </a:lnTo>
                <a:cubicBezTo>
                  <a:pt x="564207" y="0"/>
                  <a:pt x="663129" y="129052"/>
                  <a:pt x="663129" y="288247"/>
                </a:cubicBezTo>
                <a:lnTo>
                  <a:pt x="663129" y="1310185"/>
                </a:lnTo>
                <a:lnTo>
                  <a:pt x="0" y="1310185"/>
                </a:lnTo>
                <a:lnTo>
                  <a:pt x="0" y="1225109"/>
                </a:lnTo>
                <a:lnTo>
                  <a:pt x="594890" y="1225109"/>
                </a:lnTo>
                <a:lnTo>
                  <a:pt x="594890" y="335889"/>
                </a:lnTo>
                <a:cubicBezTo>
                  <a:pt x="594890" y="197369"/>
                  <a:pt x="507162" y="85077"/>
                  <a:pt x="398943" y="85077"/>
                </a:cubicBezTo>
                <a:lnTo>
                  <a:pt x="0" y="85077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A471AA6F-D91C-E7AB-EFA7-7B582C58EC3F}"/>
              </a:ext>
            </a:extLst>
          </p:cNvPr>
          <p:cNvSpPr/>
          <p:nvPr/>
        </p:nvSpPr>
        <p:spPr>
          <a:xfrm>
            <a:off x="7105933" y="2916411"/>
            <a:ext cx="663129" cy="1310185"/>
          </a:xfrm>
          <a:custGeom>
            <a:avLst/>
            <a:gdLst>
              <a:gd name="connsiteX0" fmla="*/ 0 w 663129"/>
              <a:gd name="connsiteY0" fmla="*/ 0 h 1310185"/>
              <a:gd name="connsiteX1" fmla="*/ 442178 w 663129"/>
              <a:gd name="connsiteY1" fmla="*/ 0 h 1310185"/>
              <a:gd name="connsiteX2" fmla="*/ 663129 w 663129"/>
              <a:gd name="connsiteY2" fmla="*/ 288247 h 1310185"/>
              <a:gd name="connsiteX3" fmla="*/ 663129 w 663129"/>
              <a:gd name="connsiteY3" fmla="*/ 1310185 h 1310185"/>
              <a:gd name="connsiteX4" fmla="*/ 0 w 663129"/>
              <a:gd name="connsiteY4" fmla="*/ 1310185 h 1310185"/>
              <a:gd name="connsiteX5" fmla="*/ 0 w 663129"/>
              <a:gd name="connsiteY5" fmla="*/ 1225109 h 1310185"/>
              <a:gd name="connsiteX6" fmla="*/ 594890 w 663129"/>
              <a:gd name="connsiteY6" fmla="*/ 1225109 h 1310185"/>
              <a:gd name="connsiteX7" fmla="*/ 594890 w 663129"/>
              <a:gd name="connsiteY7" fmla="*/ 335889 h 1310185"/>
              <a:gd name="connsiteX8" fmla="*/ 398943 w 663129"/>
              <a:gd name="connsiteY8" fmla="*/ 85077 h 1310185"/>
              <a:gd name="connsiteX9" fmla="*/ 0 w 663129"/>
              <a:gd name="connsiteY9" fmla="*/ 85077 h 13101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3129" h="1310185">
                <a:moveTo>
                  <a:pt x="0" y="0"/>
                </a:moveTo>
                <a:lnTo>
                  <a:pt x="442178" y="0"/>
                </a:lnTo>
                <a:cubicBezTo>
                  <a:pt x="564207" y="0"/>
                  <a:pt x="663129" y="129052"/>
                  <a:pt x="663129" y="288247"/>
                </a:cubicBezTo>
                <a:lnTo>
                  <a:pt x="663129" y="1310185"/>
                </a:lnTo>
                <a:lnTo>
                  <a:pt x="0" y="1310185"/>
                </a:lnTo>
                <a:lnTo>
                  <a:pt x="0" y="1225109"/>
                </a:lnTo>
                <a:lnTo>
                  <a:pt x="594890" y="1225109"/>
                </a:lnTo>
                <a:lnTo>
                  <a:pt x="594890" y="335889"/>
                </a:lnTo>
                <a:cubicBezTo>
                  <a:pt x="594890" y="197369"/>
                  <a:pt x="507162" y="85077"/>
                  <a:pt x="398943" y="85077"/>
                </a:cubicBezTo>
                <a:lnTo>
                  <a:pt x="0" y="85077"/>
                </a:lnTo>
                <a:close/>
              </a:path>
            </a:pathLst>
          </a:custGeom>
          <a:solidFill>
            <a:srgbClr val="E9713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A63DE10-6152-F98A-16B5-880BEE4C924E}"/>
              </a:ext>
            </a:extLst>
          </p:cNvPr>
          <p:cNvSpPr/>
          <p:nvPr/>
        </p:nvSpPr>
        <p:spPr>
          <a:xfrm>
            <a:off x="10806750" y="4688803"/>
            <a:ext cx="663129" cy="1310185"/>
          </a:xfrm>
          <a:custGeom>
            <a:avLst/>
            <a:gdLst>
              <a:gd name="connsiteX0" fmla="*/ 0 w 663129"/>
              <a:gd name="connsiteY0" fmla="*/ 0 h 1310185"/>
              <a:gd name="connsiteX1" fmla="*/ 442178 w 663129"/>
              <a:gd name="connsiteY1" fmla="*/ 0 h 1310185"/>
              <a:gd name="connsiteX2" fmla="*/ 663129 w 663129"/>
              <a:gd name="connsiteY2" fmla="*/ 288247 h 1310185"/>
              <a:gd name="connsiteX3" fmla="*/ 663129 w 663129"/>
              <a:gd name="connsiteY3" fmla="*/ 1310185 h 1310185"/>
              <a:gd name="connsiteX4" fmla="*/ 0 w 663129"/>
              <a:gd name="connsiteY4" fmla="*/ 1310185 h 1310185"/>
              <a:gd name="connsiteX5" fmla="*/ 0 w 663129"/>
              <a:gd name="connsiteY5" fmla="*/ 1225109 h 1310185"/>
              <a:gd name="connsiteX6" fmla="*/ 594890 w 663129"/>
              <a:gd name="connsiteY6" fmla="*/ 1225109 h 1310185"/>
              <a:gd name="connsiteX7" fmla="*/ 594890 w 663129"/>
              <a:gd name="connsiteY7" fmla="*/ 335889 h 1310185"/>
              <a:gd name="connsiteX8" fmla="*/ 398943 w 663129"/>
              <a:gd name="connsiteY8" fmla="*/ 85077 h 1310185"/>
              <a:gd name="connsiteX9" fmla="*/ 0 w 663129"/>
              <a:gd name="connsiteY9" fmla="*/ 85077 h 13101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3129" h="1310185">
                <a:moveTo>
                  <a:pt x="0" y="0"/>
                </a:moveTo>
                <a:lnTo>
                  <a:pt x="442178" y="0"/>
                </a:lnTo>
                <a:cubicBezTo>
                  <a:pt x="564207" y="0"/>
                  <a:pt x="663129" y="129052"/>
                  <a:pt x="663129" y="288247"/>
                </a:cubicBezTo>
                <a:lnTo>
                  <a:pt x="663129" y="1310185"/>
                </a:lnTo>
                <a:lnTo>
                  <a:pt x="0" y="1310185"/>
                </a:lnTo>
                <a:lnTo>
                  <a:pt x="0" y="1225109"/>
                </a:lnTo>
                <a:lnTo>
                  <a:pt x="594890" y="1225109"/>
                </a:lnTo>
                <a:lnTo>
                  <a:pt x="594890" y="335889"/>
                </a:lnTo>
                <a:cubicBezTo>
                  <a:pt x="594890" y="197369"/>
                  <a:pt x="507162" y="85077"/>
                  <a:pt x="398943" y="85077"/>
                </a:cubicBezTo>
                <a:lnTo>
                  <a:pt x="0" y="850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6F93EA34-971E-6DCD-7FF4-D08B66B438B7}"/>
              </a:ext>
            </a:extLst>
          </p:cNvPr>
          <p:cNvSpPr/>
          <p:nvPr/>
        </p:nvSpPr>
        <p:spPr>
          <a:xfrm>
            <a:off x="10806749" y="2916411"/>
            <a:ext cx="663129" cy="1310185"/>
          </a:xfrm>
          <a:custGeom>
            <a:avLst/>
            <a:gdLst>
              <a:gd name="connsiteX0" fmla="*/ 0 w 663129"/>
              <a:gd name="connsiteY0" fmla="*/ 0 h 1310185"/>
              <a:gd name="connsiteX1" fmla="*/ 442178 w 663129"/>
              <a:gd name="connsiteY1" fmla="*/ 0 h 1310185"/>
              <a:gd name="connsiteX2" fmla="*/ 663129 w 663129"/>
              <a:gd name="connsiteY2" fmla="*/ 288247 h 1310185"/>
              <a:gd name="connsiteX3" fmla="*/ 663129 w 663129"/>
              <a:gd name="connsiteY3" fmla="*/ 1310185 h 1310185"/>
              <a:gd name="connsiteX4" fmla="*/ 0 w 663129"/>
              <a:gd name="connsiteY4" fmla="*/ 1310185 h 1310185"/>
              <a:gd name="connsiteX5" fmla="*/ 0 w 663129"/>
              <a:gd name="connsiteY5" fmla="*/ 1225109 h 1310185"/>
              <a:gd name="connsiteX6" fmla="*/ 594890 w 663129"/>
              <a:gd name="connsiteY6" fmla="*/ 1225109 h 1310185"/>
              <a:gd name="connsiteX7" fmla="*/ 594890 w 663129"/>
              <a:gd name="connsiteY7" fmla="*/ 335889 h 1310185"/>
              <a:gd name="connsiteX8" fmla="*/ 398943 w 663129"/>
              <a:gd name="connsiteY8" fmla="*/ 85077 h 1310185"/>
              <a:gd name="connsiteX9" fmla="*/ 0 w 663129"/>
              <a:gd name="connsiteY9" fmla="*/ 85077 h 13101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3129" h="1310185">
                <a:moveTo>
                  <a:pt x="0" y="0"/>
                </a:moveTo>
                <a:lnTo>
                  <a:pt x="442178" y="0"/>
                </a:lnTo>
                <a:cubicBezTo>
                  <a:pt x="564207" y="0"/>
                  <a:pt x="663129" y="129052"/>
                  <a:pt x="663129" y="288247"/>
                </a:cubicBezTo>
                <a:lnTo>
                  <a:pt x="663129" y="1310185"/>
                </a:lnTo>
                <a:lnTo>
                  <a:pt x="0" y="1310185"/>
                </a:lnTo>
                <a:lnTo>
                  <a:pt x="0" y="1225109"/>
                </a:lnTo>
                <a:lnTo>
                  <a:pt x="594890" y="1225109"/>
                </a:lnTo>
                <a:lnTo>
                  <a:pt x="594890" y="335889"/>
                </a:lnTo>
                <a:cubicBezTo>
                  <a:pt x="594890" y="197369"/>
                  <a:pt x="507162" y="85077"/>
                  <a:pt x="398943" y="85077"/>
                </a:cubicBezTo>
                <a:lnTo>
                  <a:pt x="0" y="850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050180B-DA5B-D50E-7A0C-65B7E8E4D779}"/>
              </a:ext>
            </a:extLst>
          </p:cNvPr>
          <p:cNvSpPr/>
          <p:nvPr/>
        </p:nvSpPr>
        <p:spPr>
          <a:xfrm>
            <a:off x="3405115" y="4688803"/>
            <a:ext cx="663129" cy="1310185"/>
          </a:xfrm>
          <a:custGeom>
            <a:avLst/>
            <a:gdLst>
              <a:gd name="connsiteX0" fmla="*/ 0 w 663129"/>
              <a:gd name="connsiteY0" fmla="*/ 0 h 1310185"/>
              <a:gd name="connsiteX1" fmla="*/ 442178 w 663129"/>
              <a:gd name="connsiteY1" fmla="*/ 0 h 1310185"/>
              <a:gd name="connsiteX2" fmla="*/ 663129 w 663129"/>
              <a:gd name="connsiteY2" fmla="*/ 288247 h 1310185"/>
              <a:gd name="connsiteX3" fmla="*/ 663129 w 663129"/>
              <a:gd name="connsiteY3" fmla="*/ 1310185 h 1310185"/>
              <a:gd name="connsiteX4" fmla="*/ 0 w 663129"/>
              <a:gd name="connsiteY4" fmla="*/ 1310185 h 1310185"/>
              <a:gd name="connsiteX5" fmla="*/ 0 w 663129"/>
              <a:gd name="connsiteY5" fmla="*/ 1225109 h 1310185"/>
              <a:gd name="connsiteX6" fmla="*/ 594890 w 663129"/>
              <a:gd name="connsiteY6" fmla="*/ 1225109 h 1310185"/>
              <a:gd name="connsiteX7" fmla="*/ 594890 w 663129"/>
              <a:gd name="connsiteY7" fmla="*/ 335889 h 1310185"/>
              <a:gd name="connsiteX8" fmla="*/ 398943 w 663129"/>
              <a:gd name="connsiteY8" fmla="*/ 85077 h 1310185"/>
              <a:gd name="connsiteX9" fmla="*/ 0 w 663129"/>
              <a:gd name="connsiteY9" fmla="*/ 85077 h 13101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3129" h="1310185">
                <a:moveTo>
                  <a:pt x="0" y="0"/>
                </a:moveTo>
                <a:lnTo>
                  <a:pt x="442178" y="0"/>
                </a:lnTo>
                <a:cubicBezTo>
                  <a:pt x="564207" y="0"/>
                  <a:pt x="663129" y="129052"/>
                  <a:pt x="663129" y="288247"/>
                </a:cubicBezTo>
                <a:lnTo>
                  <a:pt x="663129" y="1310185"/>
                </a:lnTo>
                <a:lnTo>
                  <a:pt x="0" y="1310185"/>
                </a:lnTo>
                <a:lnTo>
                  <a:pt x="0" y="1225109"/>
                </a:lnTo>
                <a:lnTo>
                  <a:pt x="594890" y="1225109"/>
                </a:lnTo>
                <a:lnTo>
                  <a:pt x="594890" y="335889"/>
                </a:lnTo>
                <a:cubicBezTo>
                  <a:pt x="594890" y="197369"/>
                  <a:pt x="507162" y="85077"/>
                  <a:pt x="398943" y="85077"/>
                </a:cubicBezTo>
                <a:lnTo>
                  <a:pt x="0" y="85077"/>
                </a:lnTo>
                <a:close/>
              </a:path>
            </a:pathLst>
          </a:custGeom>
          <a:solidFill>
            <a:srgbClr val="7030A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5D5ACA76-15AF-F0C1-34F0-4688ECF9C3EE}"/>
              </a:ext>
            </a:extLst>
          </p:cNvPr>
          <p:cNvSpPr/>
          <p:nvPr/>
        </p:nvSpPr>
        <p:spPr>
          <a:xfrm>
            <a:off x="7101650" y="4688802"/>
            <a:ext cx="663129" cy="1310185"/>
          </a:xfrm>
          <a:custGeom>
            <a:avLst/>
            <a:gdLst>
              <a:gd name="connsiteX0" fmla="*/ 0 w 663129"/>
              <a:gd name="connsiteY0" fmla="*/ 0 h 1310185"/>
              <a:gd name="connsiteX1" fmla="*/ 442178 w 663129"/>
              <a:gd name="connsiteY1" fmla="*/ 0 h 1310185"/>
              <a:gd name="connsiteX2" fmla="*/ 663129 w 663129"/>
              <a:gd name="connsiteY2" fmla="*/ 288247 h 1310185"/>
              <a:gd name="connsiteX3" fmla="*/ 663129 w 663129"/>
              <a:gd name="connsiteY3" fmla="*/ 1310185 h 1310185"/>
              <a:gd name="connsiteX4" fmla="*/ 0 w 663129"/>
              <a:gd name="connsiteY4" fmla="*/ 1310185 h 1310185"/>
              <a:gd name="connsiteX5" fmla="*/ 0 w 663129"/>
              <a:gd name="connsiteY5" fmla="*/ 1225109 h 1310185"/>
              <a:gd name="connsiteX6" fmla="*/ 594890 w 663129"/>
              <a:gd name="connsiteY6" fmla="*/ 1225109 h 1310185"/>
              <a:gd name="connsiteX7" fmla="*/ 594890 w 663129"/>
              <a:gd name="connsiteY7" fmla="*/ 335889 h 1310185"/>
              <a:gd name="connsiteX8" fmla="*/ 398943 w 663129"/>
              <a:gd name="connsiteY8" fmla="*/ 85077 h 1310185"/>
              <a:gd name="connsiteX9" fmla="*/ 0 w 663129"/>
              <a:gd name="connsiteY9" fmla="*/ 85077 h 13101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3129" h="1310185">
                <a:moveTo>
                  <a:pt x="0" y="0"/>
                </a:moveTo>
                <a:lnTo>
                  <a:pt x="442178" y="0"/>
                </a:lnTo>
                <a:cubicBezTo>
                  <a:pt x="564207" y="0"/>
                  <a:pt x="663129" y="129052"/>
                  <a:pt x="663129" y="288247"/>
                </a:cubicBezTo>
                <a:lnTo>
                  <a:pt x="663129" y="1310185"/>
                </a:lnTo>
                <a:lnTo>
                  <a:pt x="0" y="1310185"/>
                </a:lnTo>
                <a:lnTo>
                  <a:pt x="0" y="1225109"/>
                </a:lnTo>
                <a:lnTo>
                  <a:pt x="594890" y="1225109"/>
                </a:lnTo>
                <a:lnTo>
                  <a:pt x="594890" y="335889"/>
                </a:lnTo>
                <a:cubicBezTo>
                  <a:pt x="594890" y="197369"/>
                  <a:pt x="507162" y="85077"/>
                  <a:pt x="398943" y="85077"/>
                </a:cubicBezTo>
                <a:lnTo>
                  <a:pt x="0" y="85077"/>
                </a:lnTo>
                <a:close/>
              </a:path>
            </a:pathLst>
          </a:custGeom>
          <a:solidFill>
            <a:srgbClr val="7030A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E94D1E8-4EA3-6064-F87A-F7C586241915}"/>
              </a:ext>
            </a:extLst>
          </p:cNvPr>
          <p:cNvSpPr/>
          <p:nvPr/>
        </p:nvSpPr>
        <p:spPr>
          <a:xfrm>
            <a:off x="4486893" y="3886154"/>
            <a:ext cx="3218213" cy="25532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Topic: </a:t>
            </a:r>
            <a:r>
              <a:rPr lang="en-US" sz="1600" dirty="0"/>
              <a:t>retail/orders/created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7E9054B-62FA-B63D-8720-6D73BD663023}"/>
              </a:ext>
            </a:extLst>
          </p:cNvPr>
          <p:cNvSpPr/>
          <p:nvPr/>
        </p:nvSpPr>
        <p:spPr>
          <a:xfrm>
            <a:off x="781792" y="5658546"/>
            <a:ext cx="3218213" cy="25532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Event capture &amp; replay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3FA810C-E9AD-08BB-67CE-F42C5AF14DB3}"/>
              </a:ext>
            </a:extLst>
          </p:cNvPr>
          <p:cNvSpPr/>
          <p:nvPr/>
        </p:nvSpPr>
        <p:spPr>
          <a:xfrm>
            <a:off x="4486892" y="5658546"/>
            <a:ext cx="3218213" cy="25532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Real‑time stock &amp; pricing</a:t>
            </a:r>
            <a:endParaRPr lang="en-US" sz="14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CC58C9A-6D29-D41A-0F52-15C9D2453D4F}"/>
              </a:ext>
            </a:extLst>
          </p:cNvPr>
          <p:cNvSpPr/>
          <p:nvPr/>
        </p:nvSpPr>
        <p:spPr>
          <a:xfrm>
            <a:off x="8191994" y="3886154"/>
            <a:ext cx="3218213" cy="2553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Mapping • Validation • Routing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18AA7C3-9D69-D66F-D770-B210C0FD065D}"/>
              </a:ext>
            </a:extLst>
          </p:cNvPr>
          <p:cNvSpPr/>
          <p:nvPr/>
        </p:nvSpPr>
        <p:spPr>
          <a:xfrm>
            <a:off x="8191994" y="5658546"/>
            <a:ext cx="3218213" cy="2553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ORDERS05 • A2X</a:t>
            </a:r>
            <a:endParaRPr lang="en-US" sz="1400" dirty="0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1AF4BDDF-FBED-CE30-CEA9-2252F555FDFE}"/>
              </a:ext>
            </a:extLst>
          </p:cNvPr>
          <p:cNvCxnSpPr>
            <a:cxnSpLocks/>
          </p:cNvCxnSpPr>
          <p:nvPr/>
        </p:nvCxnSpPr>
        <p:spPr>
          <a:xfrm>
            <a:off x="1967191" y="2369128"/>
            <a:ext cx="2531017" cy="117756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8C6CC2ED-3891-0E5E-2586-0232338A8B70}"/>
              </a:ext>
            </a:extLst>
          </p:cNvPr>
          <p:cNvSpPr/>
          <p:nvPr/>
        </p:nvSpPr>
        <p:spPr>
          <a:xfrm>
            <a:off x="1877190" y="2284841"/>
            <a:ext cx="180000" cy="180000"/>
          </a:xfrm>
          <a:prstGeom prst="ellipse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000061E9-74F4-798E-D9FD-6D0AAA6E6B35}"/>
              </a:ext>
            </a:extLst>
          </p:cNvPr>
          <p:cNvCxnSpPr>
            <a:cxnSpLocks/>
          </p:cNvCxnSpPr>
          <p:nvPr/>
        </p:nvCxnSpPr>
        <p:spPr>
          <a:xfrm flipH="1" flipV="1">
            <a:off x="2828925" y="2378034"/>
            <a:ext cx="1711456" cy="758866"/>
          </a:xfrm>
          <a:prstGeom prst="straightConnector1">
            <a:avLst/>
          </a:prstGeom>
          <a:ln w="38100" cap="flat" cmpd="sng" algn="ctr">
            <a:solidFill>
              <a:schemeClr val="accent3"/>
            </a:solidFill>
            <a:prstDash val="dash"/>
            <a:round/>
            <a:headEnd type="oval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9" name="Oval 68">
            <a:extLst>
              <a:ext uri="{FF2B5EF4-FFF2-40B4-BE49-F238E27FC236}">
                <a16:creationId xmlns:a16="http://schemas.microsoft.com/office/drawing/2014/main" id="{1E769ADE-17D5-3E73-D606-20862E326DAA}"/>
              </a:ext>
            </a:extLst>
          </p:cNvPr>
          <p:cNvSpPr/>
          <p:nvPr/>
        </p:nvSpPr>
        <p:spPr>
          <a:xfrm>
            <a:off x="4450381" y="3035573"/>
            <a:ext cx="180000" cy="180000"/>
          </a:xfrm>
          <a:prstGeom prst="ellipse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0FD96E12-84B9-D9A3-191B-7313748335CE}"/>
              </a:ext>
            </a:extLst>
          </p:cNvPr>
          <p:cNvCxnSpPr>
            <a:cxnSpLocks/>
          </p:cNvCxnSpPr>
          <p:nvPr/>
        </p:nvCxnSpPr>
        <p:spPr>
          <a:xfrm flipH="1">
            <a:off x="7499332" y="3763411"/>
            <a:ext cx="1345844" cy="0"/>
          </a:xfrm>
          <a:prstGeom prst="straightConnector1">
            <a:avLst/>
          </a:prstGeom>
          <a:ln w="38100" cap="flat" cmpd="sng" algn="ctr">
            <a:solidFill>
              <a:schemeClr val="accent3"/>
            </a:solidFill>
            <a:prstDash val="dash"/>
            <a:round/>
            <a:headEnd type="oval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8" name="Oval 77">
            <a:extLst>
              <a:ext uri="{FF2B5EF4-FFF2-40B4-BE49-F238E27FC236}">
                <a16:creationId xmlns:a16="http://schemas.microsoft.com/office/drawing/2014/main" id="{9D4FB204-31B2-98F0-F8BD-99DBECFF55D6}"/>
              </a:ext>
            </a:extLst>
          </p:cNvPr>
          <p:cNvSpPr/>
          <p:nvPr/>
        </p:nvSpPr>
        <p:spPr>
          <a:xfrm>
            <a:off x="8755176" y="3663616"/>
            <a:ext cx="180000" cy="180000"/>
          </a:xfrm>
          <a:prstGeom prst="ellipse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D822F931-EF8D-C5D0-24A5-D765BB07DDBF}"/>
              </a:ext>
            </a:extLst>
          </p:cNvPr>
          <p:cNvCxnSpPr>
            <a:cxnSpLocks/>
            <a:stCxn id="31" idx="1"/>
          </p:cNvCxnSpPr>
          <p:nvPr/>
        </p:nvCxnSpPr>
        <p:spPr>
          <a:xfrm flipH="1">
            <a:off x="2365579" y="4013814"/>
            <a:ext cx="2121314" cy="757584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32FABD14-6300-6D4C-8030-41816349E086}"/>
              </a:ext>
            </a:extLst>
          </p:cNvPr>
          <p:cNvCxnSpPr>
            <a:cxnSpLocks/>
          </p:cNvCxnSpPr>
          <p:nvPr/>
        </p:nvCxnSpPr>
        <p:spPr>
          <a:xfrm flipH="1">
            <a:off x="6095998" y="4143956"/>
            <a:ext cx="2" cy="1016307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E387FEF3-3A0B-1E1C-2416-1C7523D7472A}"/>
              </a:ext>
            </a:extLst>
          </p:cNvPr>
          <p:cNvCxnSpPr>
            <a:cxnSpLocks/>
          </p:cNvCxnSpPr>
          <p:nvPr/>
        </p:nvCxnSpPr>
        <p:spPr>
          <a:xfrm flipH="1">
            <a:off x="9618865" y="4141474"/>
            <a:ext cx="2" cy="1016307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199A7A80-0A60-42A4-8133-D85D94A4C047}"/>
              </a:ext>
            </a:extLst>
          </p:cNvPr>
          <p:cNvCxnSpPr>
            <a:cxnSpLocks/>
          </p:cNvCxnSpPr>
          <p:nvPr/>
        </p:nvCxnSpPr>
        <p:spPr>
          <a:xfrm flipV="1">
            <a:off x="10037928" y="4073857"/>
            <a:ext cx="3871" cy="1037405"/>
          </a:xfrm>
          <a:prstGeom prst="straightConnector1">
            <a:avLst/>
          </a:prstGeom>
          <a:ln w="38100" cap="flat" cmpd="sng" algn="ctr">
            <a:solidFill>
              <a:schemeClr val="accent3"/>
            </a:solidFill>
            <a:prstDash val="dash"/>
            <a:round/>
            <a:headEnd type="oval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0" name="Oval 99">
            <a:extLst>
              <a:ext uri="{FF2B5EF4-FFF2-40B4-BE49-F238E27FC236}">
                <a16:creationId xmlns:a16="http://schemas.microsoft.com/office/drawing/2014/main" id="{317CF020-0B3E-C663-938C-72982C98E205}"/>
              </a:ext>
            </a:extLst>
          </p:cNvPr>
          <p:cNvSpPr/>
          <p:nvPr/>
        </p:nvSpPr>
        <p:spPr>
          <a:xfrm>
            <a:off x="4408208" y="3914012"/>
            <a:ext cx="180000" cy="180000"/>
          </a:xfrm>
          <a:prstGeom prst="ellipse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4721A6D4-33C0-15D1-886A-6BBEFBFE1CEA}"/>
              </a:ext>
            </a:extLst>
          </p:cNvPr>
          <p:cNvSpPr/>
          <p:nvPr/>
        </p:nvSpPr>
        <p:spPr>
          <a:xfrm>
            <a:off x="6006949" y="4046552"/>
            <a:ext cx="180000" cy="180000"/>
          </a:xfrm>
          <a:prstGeom prst="ellipse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C8CAC965-63E1-6EB4-CF59-45CEA512BD18}"/>
              </a:ext>
            </a:extLst>
          </p:cNvPr>
          <p:cNvSpPr/>
          <p:nvPr/>
        </p:nvSpPr>
        <p:spPr>
          <a:xfrm>
            <a:off x="9524996" y="4061547"/>
            <a:ext cx="180000" cy="180000"/>
          </a:xfrm>
          <a:prstGeom prst="ellipse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105AC209-0663-FA38-70FE-5DDD7E78B323}"/>
              </a:ext>
            </a:extLst>
          </p:cNvPr>
          <p:cNvSpPr/>
          <p:nvPr/>
        </p:nvSpPr>
        <p:spPr>
          <a:xfrm>
            <a:off x="9956082" y="5005171"/>
            <a:ext cx="180000" cy="180000"/>
          </a:xfrm>
          <a:prstGeom prst="ellipse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5" name="Graphic 114" descr="Badge 1 with solid fill">
            <a:extLst>
              <a:ext uri="{FF2B5EF4-FFF2-40B4-BE49-F238E27FC236}">
                <a16:creationId xmlns:a16="http://schemas.microsoft.com/office/drawing/2014/main" id="{67F59955-17A2-3D87-2970-696E5EF300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41938" y="1211271"/>
            <a:ext cx="463037" cy="463037"/>
          </a:xfrm>
          <a:prstGeom prst="rect">
            <a:avLst/>
          </a:prstGeom>
        </p:spPr>
      </p:pic>
      <p:pic>
        <p:nvPicPr>
          <p:cNvPr id="117" name="Graphic 116" descr="Badge with solid fill">
            <a:extLst>
              <a:ext uri="{FF2B5EF4-FFF2-40B4-BE49-F238E27FC236}">
                <a16:creationId xmlns:a16="http://schemas.microsoft.com/office/drawing/2014/main" id="{3A7F3807-7893-61F9-4C55-916F0E87AB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95933" y="2966832"/>
            <a:ext cx="497482" cy="497482"/>
          </a:xfrm>
          <a:prstGeom prst="rect">
            <a:avLst/>
          </a:prstGeom>
        </p:spPr>
      </p:pic>
      <p:pic>
        <p:nvPicPr>
          <p:cNvPr id="119" name="Graphic 118" descr="Badge 3 with solid fill">
            <a:extLst>
              <a:ext uri="{FF2B5EF4-FFF2-40B4-BE49-F238E27FC236}">
                <a16:creationId xmlns:a16="http://schemas.microsoft.com/office/drawing/2014/main" id="{9A3393EA-CD6D-F3D8-0753-0E899B28916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15052" y="2972473"/>
            <a:ext cx="495155" cy="495155"/>
          </a:xfrm>
          <a:prstGeom prst="rect">
            <a:avLst/>
          </a:prstGeom>
        </p:spPr>
      </p:pic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6D707237-826D-54F9-D596-B4156F18992B}"/>
              </a:ext>
            </a:extLst>
          </p:cNvPr>
          <p:cNvCxnSpPr>
            <a:cxnSpLocks/>
          </p:cNvCxnSpPr>
          <p:nvPr/>
        </p:nvCxnSpPr>
        <p:spPr>
          <a:xfrm>
            <a:off x="7576883" y="3467628"/>
            <a:ext cx="1358293" cy="0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3" name="Graphic 122" descr="Badge 4 with solid fill">
            <a:extLst>
              <a:ext uri="{FF2B5EF4-FFF2-40B4-BE49-F238E27FC236}">
                <a16:creationId xmlns:a16="http://schemas.microsoft.com/office/drawing/2014/main" id="{6AA466B4-FFDA-593B-E366-35B02E26F0D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915052" y="4740544"/>
            <a:ext cx="493460" cy="493460"/>
          </a:xfrm>
          <a:prstGeom prst="rect">
            <a:avLst/>
          </a:prstGeom>
        </p:spPr>
      </p:pic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1B6E7DAB-4A1F-FCF7-719D-E1705067ED18}"/>
              </a:ext>
            </a:extLst>
          </p:cNvPr>
          <p:cNvCxnSpPr>
            <a:cxnSpLocks/>
          </p:cNvCxnSpPr>
          <p:nvPr/>
        </p:nvCxnSpPr>
        <p:spPr>
          <a:xfrm>
            <a:off x="572539" y="6261671"/>
            <a:ext cx="959938" cy="0"/>
          </a:xfrm>
          <a:prstGeom prst="straightConnector1">
            <a:avLst/>
          </a:prstGeom>
          <a:ln w="38100" cap="flat" cmpd="sng" algn="ctr">
            <a:solidFill>
              <a:schemeClr val="accent3"/>
            </a:solidFill>
            <a:prstDash val="dash"/>
            <a:round/>
            <a:headEnd type="oval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1E10C149-E7B5-559E-4399-16BBBA42FB17}"/>
              </a:ext>
            </a:extLst>
          </p:cNvPr>
          <p:cNvSpPr txBox="1"/>
          <p:nvPr/>
        </p:nvSpPr>
        <p:spPr>
          <a:xfrm>
            <a:off x="1532477" y="6107782"/>
            <a:ext cx="13258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Acknowledged</a:t>
            </a: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8873578C-A36E-EE8A-598D-2D9634F09EE9}"/>
              </a:ext>
            </a:extLst>
          </p:cNvPr>
          <p:cNvSpPr/>
          <p:nvPr/>
        </p:nvSpPr>
        <p:spPr>
          <a:xfrm>
            <a:off x="7499332" y="3377544"/>
            <a:ext cx="180000" cy="180000"/>
          </a:xfrm>
          <a:prstGeom prst="ellipse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73075F-2684-B7DB-9007-64B3BB1738B7}"/>
              </a:ext>
            </a:extLst>
          </p:cNvPr>
          <p:cNvSpPr txBox="1"/>
          <p:nvPr/>
        </p:nvSpPr>
        <p:spPr>
          <a:xfrm>
            <a:off x="9152933" y="6144882"/>
            <a:ext cx="25383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(Automatically played)</a:t>
            </a:r>
            <a:endParaRPr lang="en-US" dirty="0"/>
          </a:p>
        </p:txBody>
      </p:sp>
      <p:pic>
        <p:nvPicPr>
          <p:cNvPr id="12" name="Picture 11" descr="A green and black text&#10;&#10;AI-generated content may be incorrect.">
            <a:extLst>
              <a:ext uri="{FF2B5EF4-FFF2-40B4-BE49-F238E27FC236}">
                <a16:creationId xmlns:a16="http://schemas.microsoft.com/office/drawing/2014/main" id="{76DBAA2A-FCAE-6706-6BF5-0F8401E3055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68" y="453944"/>
            <a:ext cx="1223633" cy="444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364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-1.85185E-6 L 0.20834 0.17176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17" y="858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0"/>
                            </p:stCondLst>
                            <p:childTnLst>
                              <p:par>
                                <p:cTn id="1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4.44444E-6 L 0.1052 -0.00301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60" y="-162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3.7037E-6 L -0.16966 0.11041 " pathEditMode="relative" rAng="0" ptsTypes="AA">
                                      <p:cBhvr>
                                        <p:cTn id="23" dur="2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490" y="5509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7.40741E-7 L 0 0.14236 " pathEditMode="relative" rAng="0" ptsTypes="AA">
                                      <p:cBhvr>
                                        <p:cTn id="25" dur="2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71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0"/>
                            </p:stCondLst>
                            <p:childTnLst>
                              <p:par>
                                <p:cTn id="2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500"/>
                            </p:stCondLst>
                            <p:childTnLst>
                              <p:par>
                                <p:cTn id="33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4.07407E-6 L 0.00156 0.14005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8" y="699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7500"/>
                            </p:stCondLst>
                            <p:childTnLst>
                              <p:par>
                                <p:cTn id="3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4.07407E-6 L 1.66667E-6 -0.13888 " pathEditMode="relative" rAng="0" ptsTypes="AA">
                                      <p:cBhvr>
                                        <p:cTn id="42" dur="1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69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9000"/>
                            </p:stCondLst>
                            <p:childTnLst>
                              <p:par>
                                <p:cTn id="44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3.7037E-6 L -0.10286 0.00324 " pathEditMode="relative" rAng="0" ptsTypes="AA">
                                      <p:cBhvr>
                                        <p:cTn id="45" dur="1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156" y="2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500"/>
                            </p:stCondLst>
                            <p:childTnLst>
                              <p:par>
                                <p:cTn id="47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2.96296E-6 L -0.14037 -0.10996 " pathEditMode="relative" rAng="0" ptsTypes="AA">
                                      <p:cBhvr>
                                        <p:cTn id="48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018" y="-550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69" grpId="0" animBg="1"/>
      <p:bldP spid="78" grpId="0" animBg="1"/>
      <p:bldP spid="100" grpId="0" animBg="1"/>
      <p:bldP spid="101" grpId="0" animBg="1"/>
      <p:bldP spid="102" grpId="0" animBg="1"/>
      <p:bldP spid="103" grpId="0" animBg="1"/>
      <p:bldP spid="79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82</Words>
  <Application>Microsoft Office PowerPoint</Application>
  <PresentationFormat>Widescreen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Rexho, Ilirjan</dc:creator>
  <cp:lastModifiedBy>Rexho, Ilirjan</cp:lastModifiedBy>
  <cp:revision>1</cp:revision>
  <dcterms:created xsi:type="dcterms:W3CDTF">2025-11-06T16:36:11Z</dcterms:created>
  <dcterms:modified xsi:type="dcterms:W3CDTF">2025-11-06T16:38:40Z</dcterms:modified>
</cp:coreProperties>
</file>